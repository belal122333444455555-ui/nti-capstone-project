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elal122333444455555-ui/NTI-Capstone-Project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1486421"/>
            <a:ext cx="4722763" cy="15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Periodontitis Risk Prediction: ML Classification Pipeline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3288506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machine learning pipeline for early detection using NHANES clinical indicators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822722"/>
            <a:ext cx="4722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Clinical Challenge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96119" y="1565151"/>
            <a:ext cx="2290465" cy="1583308"/>
          </a:xfrm>
          <a:prstGeom prst="roundRect">
            <a:avLst>
              <a:gd name="adj" fmla="val 376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165" y="1721197"/>
            <a:ext cx="197837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47%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of US Adults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2165" y="2071167"/>
            <a:ext cx="1978372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Periodontitis prevalence in the United States — a widespread yet underdiagnosed condition (CDC data)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565151"/>
            <a:ext cx="2290539" cy="1583308"/>
          </a:xfrm>
          <a:prstGeom prst="roundRect">
            <a:avLst>
              <a:gd name="adj" fmla="val 376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4388" y="1721197"/>
            <a:ext cx="197844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Early Detection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84388" y="2071167"/>
            <a:ext cx="197844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tooth loss and systemic complications including cardiovascular and diabetic risks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290218"/>
            <a:ext cx="4722763" cy="1030560"/>
          </a:xfrm>
          <a:prstGeom prst="roundRect">
            <a:avLst>
              <a:gd name="adj" fmla="val 5778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165" y="3446264"/>
            <a:ext cx="441067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NHANES Indicators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2165" y="3796233"/>
            <a:ext cx="4410670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Goal: Build a predictive model using non-invasive, nationally representative survey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2037"/>
            <a:ext cx="8151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Pipeline: Preprocessing &amp; Feature Engineering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93763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10432"/>
            <a:ext cx="517758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74988" y="2317105"/>
            <a:ext cx="517758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administrative noise and eliminated target leakage risks to ensure data integrity.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988" y="2827362"/>
            <a:ext cx="517758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Selection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4988" y="3234035"/>
            <a:ext cx="517758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Dropped high-missingness features (&gt;50%) and applied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VarianceThreshold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prevent rank deficiency.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3744292"/>
            <a:ext cx="517758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Scaling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74988" y="4150965"/>
            <a:ext cx="517758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Standardized numerical predictors for distance-sensitive algorithms using z-score normalization.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4458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Modeling Strategy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37804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546598"/>
            <a:ext cx="243371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7877" y="2896567"/>
            <a:ext cx="2433712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baseline — interpretable and efficient for binary classification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348" y="1837804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546598"/>
            <a:ext cx="243371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355107" y="2896567"/>
            <a:ext cx="243371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Sequential ensemble — learns from prior errors to reduce bias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78" y="1837804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546598"/>
            <a:ext cx="243371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72336" y="2896567"/>
            <a:ext cx="2433712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Bagging ensemble — decorrelated trees capture complex feature interactions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750543"/>
            <a:ext cx="8151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models evaluated on a </a:t>
            </a:r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stratified 80/20 train-test split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preserving class balance. Metrics: Accuracy, Precision, Recall, F1-Score, and ROC-AUC.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6895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Model Performance Comparison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8794"/>
            <a:ext cx="3902943" cy="232834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778794"/>
            <a:ext cx="3902943" cy="23283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8291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Random Forest Won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41637"/>
            <a:ext cx="2622724" cy="1673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302446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Highest Precision — 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0.68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3127" y="2917329"/>
            <a:ext cx="222490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Minimizes false positives in clinical screening, reducing unnecessary patient burden and follow-up costs.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141637"/>
            <a:ext cx="2622724" cy="1673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2302446"/>
            <a:ext cx="2224906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Balanced Recall — 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0.70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(Class 0) / 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FF95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0.55</a:t>
            </a:r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(Class 1)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97610" y="2917329"/>
            <a:ext cx="2224906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true positives without overfitting to the majority class — essential for clinical equity.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141637"/>
            <a:ext cx="2622724" cy="16734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2302446"/>
            <a:ext cx="2224906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Ensemble Strength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262092" y="2652415"/>
            <a:ext cx="222490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Bagging decorrelated trees captures complex, non-linear feature interactions invisible to a linear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Confusion Matrices: Model Predictions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20874"/>
            <a:ext cx="8151763" cy="23048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335536"/>
            <a:ext cx="815176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Reading the 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3635722"/>
            <a:ext cx="8608963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Random Forest</a:t>
            </a:r>
            <a:pPr algn="l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achieves the best balance across all four prediction quadrants: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96119" y="3831878"/>
            <a:ext cx="8151763" cy="531912"/>
          </a:xfrm>
          <a:prstGeom prst="rect">
            <a:avLst/>
          </a:prstGeom>
          <a:noFill/>
          <a:ln/>
        </p:spPr>
        <p:txBody>
          <a:bodyPr wrap="square" lIns="0" tIns="40758" rIns="0" bIns="0" rtlCol="0" anchor="t">
            <a:normAutofit/>
          </a:bodyPr>
          <a:lstStyle/>
          <a:p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409</a:t>
            </a:r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True Negatives — correctly dismissed healthy cases</a:t>
            </a:r>
            <a:endParaRPr lang="en-US" sz="800" dirty="0"/>
          </a:p>
          <a:p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232</a:t>
            </a:r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True Positives — correctly flagged at-risk patients</a:t>
            </a:r>
            <a:endParaRPr lang="en-US" sz="800" dirty="0"/>
          </a:p>
          <a:p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178</a:t>
            </a:r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False Positives — manageable over-referrals</a:t>
            </a:r>
            <a:endParaRPr lang="en-US" sz="800" dirty="0"/>
          </a:p>
          <a:p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189</a:t>
            </a:r>
            <a:pPr algn="l" marL="162560" indent="-162560">
              <a:lnSpc>
                <a:spcPct val="93000"/>
              </a:lnSpc>
              <a:buSzPct val="100000"/>
              <a:buChar char="•"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False Negatives — lowest missed diagnoses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96119" y="4446166"/>
            <a:ext cx="8151763" cy="303758"/>
          </a:xfrm>
          <a:prstGeom prst="roundRect">
            <a:avLst>
              <a:gd name="adj" fmla="val 14089"/>
            </a:avLst>
          </a:prstGeom>
          <a:solidFill>
            <a:srgbClr val="FFE0C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91" y="4544839"/>
            <a:ext cx="127322" cy="1018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7187" y="4544839"/>
            <a:ext cx="8176022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clinical screening, minimizing false negatives is paramount — missed diagnoses carry the highest patient risk.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96119" y="482278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Clinical Utility &amp; Deployment</a:t>
            </a:r>
            <a:endParaRPr lang="en-US" sz="3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54535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7658" y="1754535"/>
            <a:ext cx="419122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Balanced Screening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27658" y="2104504"/>
            <a:ext cx="419122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balances sensitivity (recall) and specificity (precision) — the gold standard for real-world clinical screening tools.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40769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658" y="2940769"/>
            <a:ext cx="419122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Streamlit Interface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027658" y="3290739"/>
            <a:ext cx="419122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is ready for integration into a Streamlit health risk assessment interface for clinician-facing use.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942755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942755"/>
            <a:ext cx="419122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Actionable Risk Scores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027658" y="4292724"/>
            <a:ext cx="419122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 interpretable probability scores to support clinical decision-making without replacing clinician judgment.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4874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6119" y="218822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326" y="2188741"/>
            <a:ext cx="24452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56816" y="2232496"/>
            <a:ext cx="213843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Reproducible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6816" y="2582466"/>
            <a:ext cx="2138437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approach from data cleaning through model selection ensures reproducibility and academic rigor.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2433" y="218822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9640" y="2188741"/>
            <a:ext cx="24452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733130" y="2232496"/>
            <a:ext cx="2138437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Random Forest Outperforms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33130" y="2847380"/>
            <a:ext cx="2138437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Ensemble bagging captured non-linear feature interactions that linear and sequential baselines could not model.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48747" y="218822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5954" y="2188741"/>
            <a:ext cx="244525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09445" y="2232496"/>
            <a:ext cx="2138437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Clinically Deployable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9445" y="2582466"/>
            <a:ext cx="2138437" cy="921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achieves balanced performance across both classes — ready for integration into real-world screening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02507"/>
            <a:ext cx="815176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spc="-3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Final Output Repo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6119" y="2415853"/>
            <a:ext cx="8151763" cy="1125141"/>
          </a:xfrm>
          <a:prstGeom prst="roundRect">
            <a:avLst>
              <a:gd name="adj" fmla="val 5292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576661"/>
            <a:ext cx="783014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spc="-16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GitHub Repository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6927" y="2926631"/>
            <a:ext cx="7830145" cy="453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code, data preprocessing scripts, model training notebooks, and evaluation outputs are available at: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b="1" u="sng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https://github.com/belal122333444455555-ui/NTI-Capstone-Project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954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2026-08-12T22:18:49Z</dcterms:created>
  <dcterms:modified xsi:type="dcterms:W3CDTF">2026-08-12T22:18:49Z</dcterms:modified>
</cp:coreProperties>
</file>